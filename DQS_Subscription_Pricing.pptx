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572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InvenIQ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960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AI-Powered Inventory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3840480" cy="1270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Design Quote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103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0B981"/>
                </a:solidFill>
                <a:latin typeface="Calibri"/>
              </a:rPr>
              <a:t>Subscription &amp; Licensing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69748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→  Per-month pricing for DQS module + AI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04495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→  Build-in licensing cost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39242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→  Interior Quotations · Architect Fee Proposals · AI BOQ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217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C7A62"/>
                </a:solidFill>
                <a:latin typeface="Courier New"/>
              </a:rPr>
              <a:t>v3.7  ·  June 2026  ·  Architect Role Edition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502920"/>
            <a:ext cx="6858000" cy="123444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502920"/>
            <a:ext cx="6858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68580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21615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Subscription Tiers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920240"/>
            <a:ext cx="6858000" cy="123444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920240"/>
            <a:ext cx="685800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10312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766E"/>
                </a:solidFill>
                <a:latin typeface="Calibri"/>
              </a:rPr>
              <a:t>₹2,999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63347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Starting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337560"/>
            <a:ext cx="6858000" cy="123444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3337560"/>
            <a:ext cx="68580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35204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4ED8"/>
                </a:solidFill>
                <a:latin typeface="Calibri"/>
              </a:rPr>
              <a:t>₹5,999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0507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Professional / 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754880"/>
            <a:ext cx="6858000" cy="123444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4754880"/>
            <a:ext cx="6858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93776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ED"/>
                </a:solidFill>
                <a:latin typeface="Calibri"/>
              </a:rPr>
              <a:t>₹11,999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546811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Enterprise / month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is Design Quote Studio?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ourier New"/>
              </a:rPr>
              <a:t>InvenIQ  ·  Module: designquote  ·  Role: Architect (restricted)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3730752" cy="21031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07008"/>
            <a:ext cx="3730752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🏛  Interior Quotations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Create detailed room-wise BOQ quotations for interior design projects.
Draft, Sent, Negotiating, Won, Lost, Expired workflow stages.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07008"/>
            <a:ext cx="3730752" cy="21031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07008"/>
            <a:ext cx="37307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1" y="1408176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📐  Architect Fee Proposals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1" y="1773936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Generate structured fee proposals (5–8% of project cost) across
6 phases: P1 Concept → P6 Post-Handover. Auto GST at 18% (SAC 998331).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6" y="1207008"/>
            <a:ext cx="3730752" cy="21031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6" y="1207008"/>
            <a:ext cx="37307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408176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🤖  AI BOQ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1773936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WhatsApp photo → AI identifies CP fittings, sanitary ware, hardware,
tiles, plumbing items with HSN codes and quantities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493008"/>
            <a:ext cx="3730752" cy="21031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3493008"/>
            <a:ext cx="37307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694176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🔗  QB↔DQS Two-Way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059936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Quotation Builder items sync into Design Quote Studio BOQ sections.
Products saved to shared Product Catalog with AI-inferred HSN + category.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493008"/>
            <a:ext cx="3730752" cy="21031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493008"/>
            <a:ext cx="37307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1" y="3694176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📄  PDF Export &amp; Proposals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1" y="4059936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Professional PDF output for client delivery. Custom letterhead
and branding on Enterprise plan. No per-PDF API cost.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6" y="3493008"/>
            <a:ext cx="3730752" cy="21031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6" y="3493008"/>
            <a:ext cx="3730752" cy="36576"/>
          </a:xfrm>
          <a:prstGeom prst="rect">
            <a:avLst/>
          </a:prstGeom>
          <a:solidFill>
            <a:srgbClr val="06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3694176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7860"/>
                </a:solidFill>
                <a:latin typeface="Calibri"/>
              </a:rPr>
              <a:t>🗂  Product Catalog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4059936"/>
            <a:ext cx="3456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All scanned items auto-saved to the shared catalog.
Brand, finish, HSN, and category inferred by AI on every scan.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Subscription Tiers — Monthly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Three plans · All billed monthly · Cancel anytime · 30-day free trial on Professional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3730752" cy="544068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3730752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ourier New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17904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₹2,999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11680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31136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66E"/>
                </a:solidFill>
                <a:latin typeface="Calibri"/>
              </a:rPr>
              <a:t>1 Architect seat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542032"/>
            <a:ext cx="3364992" cy="1016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5176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30 Interior Quotations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97180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5 Architect Fee Proposals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9184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AI BOQ Scanner — 50 scans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61188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WhatsApp photo scan — 5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93192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Standard PDF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25196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7A62"/>
                </a:solidFill>
                <a:latin typeface="Calibri"/>
              </a:rPr>
              <a:t>      ✗  Product Catalog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57200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7A62"/>
                </a:solidFill>
                <a:latin typeface="Calibri"/>
              </a:rPr>
              <a:t>      ✗  QB↔DQS two-way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89204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7A62"/>
                </a:solidFill>
                <a:latin typeface="Calibri"/>
              </a:rPr>
              <a:t>      ✗  Custom PDF branding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4" y="1078992"/>
            <a:ext cx="3730752" cy="544068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1078992"/>
            <a:ext cx="37307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75504" y="914400"/>
            <a:ext cx="1920240" cy="2468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9144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★  RECOMMENDED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1243584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ourier New"/>
              </a:rPr>
              <a:t>PROFESSIONAL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1517904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₹5,999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2011680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2231136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4ED8"/>
                </a:solidFill>
                <a:latin typeface="Calibri"/>
              </a:rPr>
              <a:t>3 Architect seats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2542032"/>
            <a:ext cx="3364992" cy="1016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265176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Unlimited Interior Quotations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297180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Unlimited Architect Fee Proposals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329184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AI BOQ Scanner — unlimited scans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361188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WhatsApp + multi-photo — unlimited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393192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Standard PDF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425196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Product Catalog sync (hardware/sanitary)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5696" y="457200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QB↔DQS two-way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5696" y="489204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7A62"/>
                </a:solidFill>
                <a:latin typeface="Calibri"/>
              </a:rPr>
              <a:t>      ✗  Custom PDF branding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74736" y="1078992"/>
            <a:ext cx="3730752" cy="544068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74736" y="1078992"/>
            <a:ext cx="37307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6" y="1243584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urier New"/>
              </a:rPr>
              <a:t>ENTERPRISE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1517904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₹11,999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2011680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/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2231136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10 Architect seats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2542032"/>
            <a:ext cx="3364992" cy="1016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265176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Unlimited Interior Quotations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297180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Unlimited Architect Fee Proposals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329184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AI BOQ Scanner — unlimited scans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8" y="361188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WhatsApp + multi-photo — unlimited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8" y="393192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Custom PDF branding &amp; letterhead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425196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Product Catalog + QB↔DQS sync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457200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2 custom template designs (one-time)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8" y="4892040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→  Dedicated account manager + 99.9%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7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65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ourier New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132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₹2,999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984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per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64208"/>
            <a:ext cx="3200400" cy="1016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Architect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 seat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Interior Quotations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30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Architect Fee Proposals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AI BOQ Scans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50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WhatsApp Photo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PDF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Standard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4572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Catalog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62"/>
                </a:solidFill>
                <a:latin typeface="Calibri"/>
              </a:rPr>
              <a:t>✗  Not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5029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QB↔DQS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62"/>
                </a:solidFill>
                <a:latin typeface="Calibri"/>
              </a:rPr>
              <a:t>✗  Not 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747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Best for: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658368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Independent architects and freelance interior designers handling
low-to-medium volume projects. Ideal for trying out InvenIQ DQS
before committing to a higher tier.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691640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31920" y="1691640"/>
            <a:ext cx="7955279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3087" y="185623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Single architect 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21488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Perfect for a solo practitioner managing 20–30 projects/year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2926080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0" y="2926080"/>
            <a:ext cx="7955279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7" y="309067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New to digital quotations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33832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Replaces Excel/WhatsApp-based quotation workflows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4160520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0" y="4160520"/>
            <a:ext cx="7955279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33087" y="432511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Low proposal volume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3087" y="46177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Up to 5 detailed fee proposals per month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5394960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31920" y="5394960"/>
            <a:ext cx="7955279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33087" y="5559552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Trial before upgrade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3087" y="58521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Full platform access to evaluate before moving to Professional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6510528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7A62"/>
                </a:solidFill>
                <a:latin typeface="Calibri"/>
              </a:rPr>
              <a:t>→  Upgrade to Professional when scan volume or proposal count exceeds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C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47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ourier New"/>
              </a:rPr>
              <a:t>★  PROFESSIONAL  ·  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583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₹5,999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435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per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09344"/>
            <a:ext cx="3200400" cy="1016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Architect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 seats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2128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Interior Quotations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26700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Architect Fee Proposals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70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127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AI BOQ Scans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127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35844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WhatsApp Photo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584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041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PDF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041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Standard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44988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Catalog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98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9560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7A62"/>
                </a:solidFill>
                <a:latin typeface="Calibri"/>
              </a:rPr>
              <a:t>QB↔DQS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 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747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Best for: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6583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Growing interior design firms and architecture studios managing
multiple projects simultaneously with a small team of architects.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48132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31920" y="1481328"/>
            <a:ext cx="7955279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3087" y="164592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Multi-architect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193852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2–3 architects sharing the same DQS workspace and catalog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271576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0" y="2715768"/>
            <a:ext cx="7955279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7" y="28803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High quotation volume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317296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No cap on Interior Quotations or Fee Proposals per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95020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0" y="3950208"/>
            <a:ext cx="7955279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33087" y="411480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Catalog-driven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3087" y="440740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Product Catalog synced with QB scanner — consistent pricing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518464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31920" y="5184648"/>
            <a:ext cx="7955279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33087" y="534924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Cross-module efficiency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3087" y="564184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QB↔DQS sync eliminates double-entry of materials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6510528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→  Most popular plan · Includes 30-day free trial for all new installations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8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47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ourier New"/>
              </a:rPr>
              <a:t>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583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₹11,999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435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per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09344"/>
            <a:ext cx="3200400" cy="10160"/>
          </a:xfrm>
          <a:prstGeom prst="rect">
            <a:avLst/>
          </a:prstGeom>
          <a:solidFill>
            <a:srgbClr val="1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719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Architect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7190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10 seats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148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Interior Quotations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488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25786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Architect Fee Proposals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57860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0083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AI BOQ Scans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00837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34381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WhatsApp Photo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43814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867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Custom PDF Branding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867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✓  Included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42976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Template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2976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2 templates (one-time)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727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Account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7274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✓  Dedicated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51572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7A62"/>
                </a:solidFill>
                <a:latin typeface="Calibri"/>
              </a:rPr>
              <a:t>SLA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1572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99.9% uptime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4747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658368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B91"/>
                </a:solidFill>
                <a:latin typeface="Calibri"/>
              </a:rPr>
              <a:t>Large interior design firms, real-estate developers, and institutional buyers
running multiple projects across teams with brand consistency requirements.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148132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0" y="1481328"/>
            <a:ext cx="7955279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33087" y="164592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Large team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193852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Up to 10 architect logins with role-scoped module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71576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31920" y="2715768"/>
            <a:ext cx="7955279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3087" y="28803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Brand identity in proposals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3087" y="317296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Custom letterhead, logo, and colour scheme on all PDFs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395020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31920" y="3950208"/>
            <a:ext cx="7955279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33087" y="411480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Template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7" y="440740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2 bespoke templates designed by InvenIQ team at no extra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184648"/>
            <a:ext cx="7955279" cy="1078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31920" y="5184648"/>
            <a:ext cx="7955279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3087" y="534924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Dedicated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33087" y="564184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AB91"/>
                </a:solidFill>
                <a:latin typeface="Calibri"/>
              </a:rPr>
              <a:t>Named account manager · Priority SLA · 99.9% uptime guarantee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6510528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alibri"/>
              </a:rPr>
              <a:t>→  Additional seats: ₹999/seat/month beyond the 10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Feature Comparison — All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4400"/>
            <a:ext cx="3566160" cy="512064"/>
          </a:xfrm>
          <a:prstGeom prst="rect">
            <a:avLst/>
          </a:prstGeom>
          <a:solidFill>
            <a:srgbClr val="111F18"/>
          </a:solidFill>
          <a:ln w="635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3438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14400"/>
            <a:ext cx="2578608" cy="512064"/>
          </a:xfrm>
          <a:prstGeom prst="rect">
            <a:avLst/>
          </a:prstGeom>
          <a:solidFill>
            <a:srgbClr val="0F766E"/>
          </a:solidFill>
          <a:ln w="635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8" y="9601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Starter
₹2,999/mo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914400"/>
            <a:ext cx="2578608" cy="512064"/>
          </a:xfrm>
          <a:prstGeom prst="rect">
            <a:avLst/>
          </a:prstGeom>
          <a:solidFill>
            <a:srgbClr val="1D4ED8"/>
          </a:solidFill>
          <a:ln w="635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9601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Professional
₹5,999/mo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4040" y="914400"/>
            <a:ext cx="2578608" cy="512064"/>
          </a:xfrm>
          <a:prstGeom prst="rect">
            <a:avLst/>
          </a:prstGeom>
          <a:solidFill>
            <a:srgbClr val="7C3AED"/>
          </a:solidFill>
          <a:ln w="635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768" y="9601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Enterprise
₹11,999/mo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26464"/>
            <a:ext cx="3566160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481328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Architect Seats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426464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48132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426464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8132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426464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48132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1819656"/>
            <a:ext cx="3566160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1874520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Interior Quotations/month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1819656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187452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819656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87452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1819656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87452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2212848"/>
            <a:ext cx="3566160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267712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Fee Proposals/month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2212848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2267712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212848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267712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4040" y="2212848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2267712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2606040"/>
            <a:ext cx="3566160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2660904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BOQ Scans/month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2606040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2660904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2606040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660904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2606040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2660904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2999232"/>
            <a:ext cx="3566160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3054096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WhatsApp Photo Scans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9080" y="2999232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3054096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5/month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2999232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054096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64040" y="2999232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3054096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Unlimited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3392424"/>
            <a:ext cx="3566160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3447288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PDF Export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3392424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344728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3392424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344728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64040" y="3392424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5480" y="344728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" y="3785616"/>
            <a:ext cx="3566160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3840480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Custom PDF Branding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9080" y="3785616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384048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3785616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0" y="384048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64040" y="3785616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55480" y="384048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" y="4178808"/>
            <a:ext cx="3566160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4233672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Product Catalog Sync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69080" y="4178808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60520" y="4233672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4178808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4233672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4040" y="4178808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55480" y="4233672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" y="4572000"/>
            <a:ext cx="3566160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" y="4626864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QB↔DQS Sync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69080" y="4572000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60520" y="4626864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4572000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0" y="4626864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64040" y="4572000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55480" y="4626864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" y="4965192"/>
            <a:ext cx="3566160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" y="5020056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Custom Templates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69080" y="4965192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60520" y="5020056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66560" y="4965192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58000" y="5020056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64040" y="4965192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555480" y="5020056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2 (one-time)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" y="5358384"/>
            <a:ext cx="3566160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5488" y="5413248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Account Manager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69080" y="5358384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60520" y="541324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66560" y="5358384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58000" y="541324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464040" y="5358384"/>
            <a:ext cx="2578608" cy="393192"/>
          </a:xfrm>
          <a:prstGeom prst="rect">
            <a:avLst/>
          </a:prstGeom>
          <a:solidFill>
            <a:srgbClr val="0F22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55480" y="5413248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✓ Dedicated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47472" y="5751576"/>
            <a:ext cx="3566160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5488" y="5806440"/>
            <a:ext cx="3438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Uptime SLA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069080" y="5751576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60520" y="58064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Standard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66560" y="5751576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0" y="58064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Standard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464040" y="5751576"/>
            <a:ext cx="2578608" cy="393192"/>
          </a:xfrm>
          <a:prstGeom prst="rect">
            <a:avLst/>
          </a:prstGeom>
          <a:solidFill>
            <a:srgbClr val="111F18"/>
          </a:solidFill>
          <a:ln w="3810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555480" y="58064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B91"/>
                </a:solidFill>
                <a:latin typeface="Calibri"/>
              </a:rPr>
              <a:t>99.9%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Add-on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Optional modules available with any subscription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70432"/>
            <a:ext cx="5742432" cy="242316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170432"/>
            <a:ext cx="5742432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53312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👤  Extra Architect Seat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₹799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/ seat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4942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Add architect user accounts beyond the included seats in your plan.
Each seat gets full DQS access under your organisation.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2278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766E"/>
                </a:solidFill>
                <a:latin typeface="Courier New"/>
              </a:rPr>
              <a:t>Available on: Starter · Professional · 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70432"/>
            <a:ext cx="5742432" cy="242316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574243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53312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🤖  AI Scan Pack — 500 extra scans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₹1,499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18836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4942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Purchase additional 500 AI BOQ scans per month on top of your plan limit.
Only applicable on the Starter plan (Professional and Enterprise are unlimited).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278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  <a:latin typeface="Courier New"/>
              </a:rPr>
              <a:t>Available on: Starter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822192"/>
            <a:ext cx="5742432" cy="242316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822192"/>
            <a:ext cx="574243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005072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Calibri"/>
              </a:rPr>
              <a:t>📄  Custom PDF Template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₹2,999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354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one-time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90118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InvenIQ design team creates a bespoke quotation PDF template
matching your brand: logo, colours, fonts, header/footer layout.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8795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D4ED8"/>
                </a:solidFill>
                <a:latin typeface="Courier New"/>
              </a:rPr>
              <a:t>Available on: Starter · Professional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22192"/>
            <a:ext cx="5742432" cy="242316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822192"/>
            <a:ext cx="5742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05072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💬  WhatsApp Bot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₹1,999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45354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/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90118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Dedicated WhatsApp Business API integration. Clients send site photos
directly to your bot — AI auto-generates BOQ and saves to DQS.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8795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Courier New"/>
              </a:rPr>
              <a:t>Available on: All tiers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Build-in Licensing Cost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What is included in the InvenIQ DQS build · What you pay separately to OpenAI at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70432"/>
            <a:ext cx="3730752" cy="217627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170432"/>
            <a:ext cx="37307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3502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  <a:latin typeface="Courier New"/>
              </a:rPr>
              <a:t>✓  INCLUDED IN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72768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DQS Core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2024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37744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Fully licensed as part of InvenIQ Enterprise.
No separate module activation fee.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170432"/>
            <a:ext cx="3730752" cy="217627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1170432"/>
            <a:ext cx="37307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33502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  <a:latin typeface="Courier New"/>
              </a:rPr>
              <a:t>✓  INCLUDED IN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572768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PDF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92024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37744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Client-side rendering (browser-based).
Zero server cost per PDF.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170432"/>
            <a:ext cx="3730752" cy="217627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170432"/>
            <a:ext cx="37307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33502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  <a:latin typeface="Courier New"/>
              </a:rPr>
              <a:t>✓  INCLUDED IN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572768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Quote &amp; Proposal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92024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37744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Stored in your own MySQL database.
No cloud storage fee from InvenIQ.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593592"/>
            <a:ext cx="3730752" cy="217627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" y="3593592"/>
            <a:ext cx="37307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75818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ourier New"/>
              </a:rPr>
              <a:t>⚡  BILLED AT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3995928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GPT-4o API (per AI scan)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3434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Calibri"/>
              </a:rPr>
              <a:t>~₹8–12 /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80060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$0.10–$0.15 per scan · Billed directly
to your OpenAI account at cost.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1104" y="3593592"/>
            <a:ext cx="3730752" cy="217627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1104" y="3593592"/>
            <a:ext cx="37307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375818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ourier New"/>
              </a:rPr>
              <a:t>⚡  BILLED AT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3995928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WhatsApp Photo Parsing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3434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Calibri"/>
              </a:rPr>
              <a:t>~₹2–4 /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480060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Vision model tokens · Charged per image.
Billed to your OpenAI account.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3593592"/>
            <a:ext cx="3730752" cy="217627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3593592"/>
            <a:ext cx="37307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375818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ourier New"/>
              </a:rPr>
              <a:t>⚡  BILLED AT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3995928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Catalog AI 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43434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Calibri"/>
              </a:rPr>
              <a:t>~₹1–2 / lookup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800600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HSN + category per product match.
GPT-4o mini — very low cost.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6309360"/>
            <a:ext cx="1147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7A62"/>
                </a:solidFill>
                <a:latin typeface="Calibri"/>
              </a:rPr>
              <a:t>★  InvenIQ does not mark up OpenAI API costs. All AI inference charges pass through directly to your OpenAI account at their published rates.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Dependent Components — Architecture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How Design Quote Studio connects to the rest of InvenIQ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651760"/>
            <a:ext cx="3044952" cy="150876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2651760"/>
            <a:ext cx="3044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816352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🏛  Design Quote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200400"/>
            <a:ext cx="2770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B91"/>
                </a:solidFill>
                <a:latin typeface="Courier New"/>
              </a:rPr>
              <a:t>activeView: designquote
Role: architect (restricted)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3108960" cy="14173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310896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🗂  Product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Shared SKU database
HSN + category inference
Brand / finish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005840"/>
            <a:ext cx="3063240" cy="141732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1005840"/>
            <a:ext cx="306324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1704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📝  Quotation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50876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QB→DQS item sync
Save scanned items
LocalStorage 30-min TTL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3108960" cy="160020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160520"/>
            <a:ext cx="31089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251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🤖  GPT-4o 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BOQ scanner extraction
HSN inference
Photo item identification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160520"/>
            <a:ext cx="3063240" cy="160020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4160520"/>
            <a:ext cx="306324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43251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💬  WhatsApp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66344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Multi-photo upload
Per-image AI parse
Collapsible room sections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07408"/>
            <a:ext cx="3108960" cy="146304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07408"/>
            <a:ext cx="3108960" cy="36576"/>
          </a:xfrm>
          <a:prstGeom prst="rect">
            <a:avLst/>
          </a:prstGeom>
          <a:solidFill>
            <a:srgbClr val="06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860"/>
                </a:solidFill>
                <a:latin typeface="Calibri"/>
              </a:rPr>
              <a:t>📄  PDF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1032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Client-side rendering
Custom branding (Enterprise)
No server-side cost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407408"/>
            <a:ext cx="3063240" cy="1463040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4407408"/>
            <a:ext cx="306324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457200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27B0"/>
                </a:solidFill>
                <a:latin typeface="Calibri"/>
              </a:rPr>
              <a:t>📊  MySQL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910328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sales_design_quotes
quote_line_items
architect_proposals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3017520"/>
            <a:ext cx="1143000" cy="15240"/>
          </a:xfrm>
          <a:prstGeom prst="rect">
            <a:avLst/>
          </a:prstGeom>
          <a:solidFill>
            <a:srgbClr val="5C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16952" y="3017520"/>
            <a:ext cx="1161288" cy="15240"/>
          </a:xfrm>
          <a:prstGeom prst="rect">
            <a:avLst/>
          </a:prstGeom>
          <a:solidFill>
            <a:srgbClr val="5C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29000" y="5029200"/>
            <a:ext cx="1143000" cy="15240"/>
          </a:xfrm>
          <a:prstGeom prst="rect">
            <a:avLst/>
          </a:prstGeom>
          <a:solidFill>
            <a:srgbClr val="5C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16952" y="5029200"/>
            <a:ext cx="1161288" cy="15240"/>
          </a:xfrm>
          <a:prstGeom prst="rect">
            <a:avLst/>
          </a:prstGeom>
          <a:solidFill>
            <a:srgbClr val="5C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30-Day Free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B91"/>
                </a:solidFill>
                <a:latin typeface="Calibri"/>
              </a:rPr>
              <a:t>No credit card required · Professional plan features · Activate immediately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114800" cy="530352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4864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0B981"/>
                </a:solidFill>
                <a:latin typeface="Segoe UI Emoji"/>
              </a:rPr>
              <a:t>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Professional Plan
Features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  <a:latin typeface="Calibri"/>
              </a:rPr>
              <a:t>30 Days · Free · No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→  Unlimited quotations and proposals
→  3 architect seat trial
→  AI BOQ Scanner unlimited
→  QB↔DQS sync active
→  Full product catalog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15568"/>
            <a:ext cx="7178040" cy="1207008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115568"/>
            <a:ext cx="7178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435608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4356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2801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Architect Role Is Pre-Provisioned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61848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The architect user account (username: architect, password: arch@2026) is
already created in every InvenIQ installation. No extra setup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487168"/>
            <a:ext cx="7178040" cy="1207008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487168"/>
            <a:ext cx="717804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2807208"/>
            <a:ext cx="34747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807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6517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Navigate to Settings →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99008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Log in as admin, go to Settings, and modify the architect user's password
and email. Optionally create additional architect accounts.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858768"/>
            <a:ext cx="7178040" cy="1207008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858768"/>
            <a:ext cx="71780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4178808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178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40233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Log In as Architect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36168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The architect role sees only 3 modules: Design Quote Studio, Settings,
and About. Full DQS access begins immediately on first login.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5230368"/>
            <a:ext cx="7178040" cy="1207008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5230368"/>
            <a:ext cx="717804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5550408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5550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53949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Start Creating Quotations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573328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B91"/>
                </a:solidFill>
                <a:latin typeface="Calibri"/>
              </a:rPr>
              <a:t>Create your first Interior Quotation. Use the WhatsApp scanner to import
a site photograph BOQ. Export as PDF and send to your client.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Ready to Get Started?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B91"/>
                </a:solidFill>
                <a:latin typeface="Calibri"/>
              </a:rPr>
              <a:t>Design Quote Studio is live in your InvenIQ build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664208"/>
            <a:ext cx="2798064" cy="3364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664208"/>
            <a:ext cx="2798064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874519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F766E"/>
                </a:solidFill>
                <a:latin typeface="Segoe UI Emoji"/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578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Activate Free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175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Log in as architect user
and start your 30-day
Professional trial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664208"/>
            <a:ext cx="2798064" cy="3364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664208"/>
            <a:ext cx="2798064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874519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D4ED8"/>
                </a:solidFill>
                <a:latin typeface="Segoe UI Emoji"/>
              </a:rPr>
              <a:t>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578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Book a 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0175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Schedule a 30-minute DQS
demo with the InvenIQ
product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664208"/>
            <a:ext cx="2798064" cy="3364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664208"/>
            <a:ext cx="2798064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874519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7C3AED"/>
                </a:solidFill>
                <a:latin typeface="Segoe UI Emoji"/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578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Download Full Brochure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0175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Get the complete DQS
product brochure with
client case studies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62872" y="1664208"/>
            <a:ext cx="2798064" cy="3364992"/>
          </a:xfrm>
          <a:prstGeom prst="rect">
            <a:avLst/>
          </a:prstGeom>
          <a:solidFill>
            <a:srgbClr val="111F18"/>
          </a:solidFill>
          <a:ln w="9525">
            <a:solidFill>
              <a:srgbClr val="1D3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62872" y="1664208"/>
            <a:ext cx="279806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1874519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0B981"/>
                </a:solidFill>
                <a:latin typeface="Segoe UI Emoji"/>
              </a:rPr>
              <a:t>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578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Upgrade Your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30175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B91"/>
                </a:solidFill>
                <a:latin typeface="Calibri"/>
              </a:rPr>
              <a:t>Contact your account
manager to upgrade from
Starter to Professional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681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C7A62"/>
                </a:solidFill>
                <a:latin typeface="Courier New"/>
              </a:rPr>
              <a:t>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InvenIQ v3.7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54681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C7A62"/>
                </a:solidFill>
                <a:latin typeface="Courier New"/>
              </a:rPr>
              <a:t>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Design Quote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54681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C7A62"/>
                </a:solidFill>
                <a:latin typeface="Courier New"/>
              </a:rPr>
              <a:t>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Architect (restricted)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4681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C7A62"/>
                </a:solidFill>
                <a:latin typeface="Courier New"/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GPT-4o · OpenAI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54681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C7A62"/>
                </a:solidFill>
                <a:latin typeface="Courier New"/>
              </a:rPr>
              <a:t>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React 18 + FastAPI + 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54681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C7A62"/>
                </a:solidFill>
                <a:latin typeface="Courier New"/>
              </a:rPr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5449824"/>
            <a:ext cx="1147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7A62"/>
                </a:solidFill>
                <a:latin typeface="Calibri"/>
              </a:rPr>
              <a:t>InvenIQ — Design Quote Studio · Subscription &amp; Licensing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